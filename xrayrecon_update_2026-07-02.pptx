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v</c:v>
                </c:pt>
              </c:strCache>
            </c:strRef>
          </c:tx>
          <c:dPt>
            <c:idx val="0"/>
            <c:spPr>
              <a:solidFill>
                <a:srgbClr val="0CA30C"/>
              </a:solidFill>
              <a:ln>
                <a:noFill/>
              </a:ln>
            </c:spPr>
          </c:dPt>
          <c:dPt>
            <c:idx val="1"/>
            <c:spPr>
              <a:solidFill>
                <a:srgbClr val="FAB219"/>
              </a:solidFill>
              <a:ln>
                <a:noFill/>
              </a:ln>
            </c:spPr>
          </c:dPt>
          <c:cat>
            <c:strRef>
              <c:f>Sheet1!$A$2:$A$3</c:f>
              <c:strCache>
                <c:ptCount val="2"/>
                <c:pt idx="0">
                  <c:v>Ground Truth</c:v>
                </c:pt>
                <c:pt idx="1">
                  <c:v>Recovered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100</c:v>
                </c:pt>
                <c:pt idx="1">
                  <c:v>56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1300" b="1">
                  <a:solidFill>
                    <a:srgbClr val="0B0B0B"/>
                  </a:solidFill>
                  <a:latin typeface="Segoe U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>
            <a:solidFill>
              <a:srgbClr val="E1E0D9"/>
            </a:solidFill>
          </a:ln>
        </c:spPr>
        <c:txPr>
          <a:bodyPr/>
          <a:lstStyle/>
          <a:p>
            <a:pPr>
              <a:defRPr sz="1100">
                <a:solidFill>
                  <a:srgbClr val="52514E"/>
                </a:solidFill>
                <a:latin typeface="Segoe U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15.0"/>
          <c:min val="0.0"/>
        </c:scaling>
        <c:delete/>
        <c:axPos val="l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>
          <a:latin typeface="Segoe UI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v</c:v>
                </c:pt>
              </c:strCache>
            </c:strRef>
          </c:tx>
          <c:dPt>
            <c:idx val="0"/>
            <c:spPr>
              <a:solidFill>
                <a:srgbClr val="2A78D6"/>
              </a:solidFill>
              <a:ln>
                <a:noFill/>
              </a:ln>
            </c:spPr>
          </c:dPt>
          <c:dPt>
            <c:idx val="1"/>
            <c:spPr>
              <a:solidFill>
                <a:srgbClr val="2A78D6"/>
              </a:solidFill>
              <a:ln>
                <a:noFill/>
              </a:ln>
            </c:spPr>
          </c:dPt>
          <c:dPt>
            <c:idx val="2"/>
            <c:spPr>
              <a:solidFill>
                <a:srgbClr val="2A78D6"/>
              </a:solidFill>
              <a:ln>
                <a:noFill/>
              </a:ln>
            </c:spPr>
          </c:dPt>
          <c:dPt>
            <c:idx val="3"/>
            <c:spPr>
              <a:solidFill>
                <a:srgbClr val="2A78D6"/>
              </a:solidFill>
              <a:ln>
                <a:noFill/>
              </a:ln>
            </c:spPr>
          </c:dPt>
          <c:dPt>
            <c:idx val="4"/>
            <c:spPr>
              <a:solidFill>
                <a:srgbClr val="2A78D6"/>
              </a:solidFill>
              <a:ln>
                <a:noFill/>
              </a:ln>
            </c:spPr>
          </c:dPt>
          <c:dPt>
            <c:idx val="5"/>
            <c:spPr>
              <a:solidFill>
                <a:srgbClr val="2A78D6"/>
              </a:solidFill>
              <a:ln>
                <a:noFill/>
              </a:ln>
            </c:spPr>
          </c:dPt>
          <c:cat>
            <c:strRef>
              <c:f>Sheet1!$A$2:$A$7</c:f>
              <c:strCache>
                <c:ptCount val="6"/>
                <c:pt idx="0">
                  <c:v>Reg.
Math</c:v>
                </c:pt>
                <c:pt idx="1">
                  <c:v>Material</c:v>
                </c:pt>
                <c:pt idx="2">
                  <c:v>Reg.
State</c:v>
                </c:pt>
                <c:pt idx="3">
                  <c:v>Spacing</c:v>
                </c:pt>
                <c:pt idx="4">
                  <c:v>Reg.
UI</c:v>
                </c:pt>
                <c:pt idx="5">
                  <c:v>App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8</c:v>
                </c:pt>
                <c:pt idx="1">
                  <c:v>5</c:v>
                </c:pt>
                <c:pt idx="2">
                  <c:v>6</c:v>
                </c:pt>
                <c:pt idx="3">
                  <c:v>7</c:v>
                </c:pt>
                <c:pt idx="4">
                  <c:v>3</c:v>
                </c:pt>
                <c:pt idx="5">
                  <c:v>2</c:v>
                </c:pt>
              </c:numCache>
            </c:numRef>
          </c:val>
        </c:ser>
        <c:dLbls>
          <c:numFmt formatCode="0&quot;&quot;" sourceLinked="0"/>
          <c:txPr>
            <a:bodyPr/>
            <a:lstStyle/>
            <a:p>
              <a:pPr>
                <a:defRPr sz="1300" b="1">
                  <a:solidFill>
                    <a:srgbClr val="FFFFFF"/>
                  </a:solidFill>
                  <a:latin typeface="Segoe U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>
            <a:solidFill>
              <a:srgbClr val="E1E0D9"/>
            </a:solidFill>
          </a:ln>
        </c:spPr>
        <c:txPr>
          <a:bodyPr/>
          <a:lstStyle/>
          <a:p>
            <a:pPr>
              <a:defRPr sz="1100">
                <a:solidFill>
                  <a:srgbClr val="C7D2DD"/>
                </a:solidFill>
                <a:latin typeface="Segoe U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.0"/>
          <c:min val="0.0"/>
        </c:scaling>
        <c:delete/>
        <c:axPos val="l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>
          <a:latin typeface="Segoe UI"/>
        </a:defRPr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chart" Target="../charts/char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223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337560"/>
            <a:ext cx="12191695" cy="3175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286000"/>
            <a:ext cx="105156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EB6834"/>
                </a:solidFill>
                <a:latin typeface="Segoe UI"/>
              </a:rPr>
              <a:t>PROJECT UPDATE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606040"/>
            <a:ext cx="10515600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Segoe UI"/>
              </a:rPr>
              <a:t>Gerber vs. Real X-Ray 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520440"/>
            <a:ext cx="9601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000" b="0" i="0">
                <a:solidFill>
                  <a:srgbClr val="C7D2DD"/>
                </a:solidFill>
                <a:latin typeface="Segoe UI"/>
              </a:rPr>
              <a:t>Registration &amp; Multi-Material Comparison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126480"/>
            <a:ext cx="54864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9AA8B6"/>
                </a:solidFill>
                <a:latin typeface="Segoe UI"/>
              </a:rPr>
              <a:t>July 2, 2026</a:t>
            </a:r>
          </a:p>
        </p:txBody>
      </p:sp>
      <p:pic>
        <p:nvPicPr>
          <p:cNvPr id="7" name="Picture 6" descr="05_antenna_pane_onl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23760" y="1489166"/>
            <a:ext cx="4572000" cy="470262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223760" y="6263640"/>
            <a:ext cx="45720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0" i="0">
                <a:solidFill>
                  <a:srgbClr val="7A8796"/>
                </a:solidFill>
                <a:latin typeface="Segoe UI"/>
              </a:rPr>
              <a:t>real 3D render — RoyalBlue54L NFC antenna Gerber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E2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3810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82296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EB6834"/>
                </a:solidFill>
                <a:latin typeface="Segoe UI"/>
              </a:rPr>
              <a:t>MOTIVATION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84632" y="384048"/>
            <a:ext cx="105156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Segoe UI"/>
              </a:rPr>
              <a:t>Goal: Ground-Truth Materials on Real CT Data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365760"/>
            <a:ext cx="64008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B8C4D0"/>
                </a:solidFill>
                <a:latin typeface="Segoe UI"/>
              </a:rPr>
              <a:t>2/10</a:t>
            </a:r>
          </a:p>
        </p:txBody>
      </p:sp>
      <p:sp>
        <p:nvSpPr>
          <p:cNvPr id="7" name="Oval 6"/>
          <p:cNvSpPr/>
          <p:nvPr/>
        </p:nvSpPr>
        <p:spPr>
          <a:xfrm>
            <a:off x="2141067" y="2651760"/>
            <a:ext cx="1463040" cy="1463040"/>
          </a:xfrm>
          <a:prstGeom prst="ellipse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3400" b="1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66747" y="4343400"/>
            <a:ext cx="20116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0B0B0B"/>
                </a:solidFill>
                <a:latin typeface="Segoe UI"/>
              </a:rPr>
              <a:t>Load Gerber</a:t>
            </a:r>
          </a:p>
        </p:txBody>
      </p:sp>
      <p:sp>
        <p:nvSpPr>
          <p:cNvPr id="9" name="Right Arrow 8"/>
          <p:cNvSpPr/>
          <p:nvPr/>
        </p:nvSpPr>
        <p:spPr>
          <a:xfrm>
            <a:off x="3677259" y="3255264"/>
            <a:ext cx="539496" cy="256032"/>
          </a:xfrm>
          <a:prstGeom prst="rightArrow">
            <a:avLst>
              <a:gd name="adj1" fmla="val 55000"/>
              <a:gd name="adj2" fmla="val 55000"/>
            </a:avLst>
          </a:prstGeom>
          <a:solidFill>
            <a:srgbClr val="8987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4289907" y="2651760"/>
            <a:ext cx="1463040" cy="1463040"/>
          </a:xfrm>
          <a:prstGeom prst="ellipse">
            <a:avLst/>
          </a:prstGeom>
          <a:solidFill>
            <a:srgbClr val="1BA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3400" b="1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015587" y="4343400"/>
            <a:ext cx="20116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0B0B0B"/>
                </a:solidFill>
                <a:latin typeface="Segoe UI"/>
              </a:rPr>
              <a:t>Dual-Pane View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5826099" y="3255264"/>
            <a:ext cx="539496" cy="256032"/>
          </a:xfrm>
          <a:prstGeom prst="rightArrow">
            <a:avLst>
              <a:gd name="adj1" fmla="val 55000"/>
              <a:gd name="adj2" fmla="val 55000"/>
            </a:avLst>
          </a:prstGeom>
          <a:solidFill>
            <a:srgbClr val="8987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38747" y="2651760"/>
            <a:ext cx="1463040" cy="1463040"/>
          </a:xfrm>
          <a:prstGeom prst="ellipse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3400" b="1">
                <a:solidFill>
                  <a:srgbClr val="FFFFFF"/>
                </a:solidFill>
                <a:latin typeface="Segoe UI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64427" y="4343400"/>
            <a:ext cx="20116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0B0B0B"/>
                </a:solidFill>
                <a:latin typeface="Segoe UI"/>
              </a:rPr>
              <a:t>Register Volumes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7974939" y="3255264"/>
            <a:ext cx="539496" cy="256032"/>
          </a:xfrm>
          <a:prstGeom prst="rightArrow">
            <a:avLst>
              <a:gd name="adj1" fmla="val 55000"/>
              <a:gd name="adj2" fmla="val 55000"/>
            </a:avLst>
          </a:prstGeom>
          <a:solidFill>
            <a:srgbClr val="8987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587587" y="2651760"/>
            <a:ext cx="1463040" cy="1463040"/>
          </a:xfrm>
          <a:prstGeom prst="ellipse">
            <a:avLst/>
          </a:prstGeom>
          <a:solidFill>
            <a:srgbClr val="0CA3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3400" b="1">
                <a:solidFill>
                  <a:srgbClr val="FFFFFF"/>
                </a:solidFill>
                <a:latin typeface="Segoe UI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13267" y="4343400"/>
            <a:ext cx="20116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0B0B0B"/>
                </a:solidFill>
                <a:latin typeface="Segoe UI"/>
              </a:rPr>
              <a:t>Transfer Labels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4754880"/>
            <a:ext cx="103327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0" i="1">
                <a:solidFill>
                  <a:srgbClr val="52514E"/>
                </a:solidFill>
                <a:latin typeface="Segoe UI"/>
              </a:rPr>
              <a:t>Real CT (left)  +  Gerber model (right)  →  registered  →  auto-labeled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E2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3810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82296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EB6834"/>
                </a:solidFill>
                <a:latin typeface="Segoe UI"/>
              </a:rPr>
              <a:t>PHASE 1 — DONE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84632" y="384048"/>
            <a:ext cx="105156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Segoe UI"/>
              </a:rPr>
              <a:t>Dual-Pane 3D Viewer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365760"/>
            <a:ext cx="64008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B8C4D0"/>
                </a:solidFill>
                <a:latin typeface="Segoe UI"/>
              </a:rPr>
              <a:t>3/10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371600"/>
            <a:ext cx="7680960" cy="3749039"/>
          </a:xfrm>
          <a:prstGeom prst="roundRect">
            <a:avLst>
              <a:gd name="adj" fmla="val 4000"/>
            </a:avLst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01_dualpa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0562" y="1463040"/>
            <a:ext cx="7305675" cy="356616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685800" y="1508760"/>
            <a:ext cx="1344168" cy="310896"/>
          </a:xfrm>
          <a:prstGeom prst="roundRect">
            <a:avLst>
              <a:gd name="adj" fmla="val 50000"/>
            </a:avLst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100" b="1">
                <a:solidFill>
                  <a:srgbClr val="FFFFFF"/>
                </a:solidFill>
                <a:latin typeface="Segoe UI"/>
              </a:rPr>
              <a:t>REAL CT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26280" y="1508760"/>
            <a:ext cx="2075688" cy="310896"/>
          </a:xfrm>
          <a:prstGeom prst="roundRect">
            <a:avLst>
              <a:gd name="adj" fmla="val 50000"/>
            </a:avLst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100" b="1">
                <a:solidFill>
                  <a:srgbClr val="FFFFFF"/>
                </a:solidFill>
                <a:latin typeface="Segoe UI"/>
              </a:rPr>
              <a:t>GERBER MODEL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5166360"/>
            <a:ext cx="768096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0" i="1">
                <a:solidFill>
                  <a:srgbClr val="52514E"/>
                </a:solidFill>
                <a:latin typeface="Segoe UI"/>
              </a:rPr>
              <a:t>live app screenshot — independent camera / threshold / opacity per pane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58200" y="1417320"/>
            <a:ext cx="32461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B0B0B"/>
                </a:solidFill>
                <a:latin typeface="Segoe UI"/>
              </a:rPr>
              <a:t>Stackup Editor (real)</a:t>
            </a:r>
          </a:p>
        </p:txBody>
      </p:sp>
      <p:pic>
        <p:nvPicPr>
          <p:cNvPr id="13" name="Picture 12" descr="06_table_cr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58200" y="2784348"/>
            <a:ext cx="3246120" cy="649224"/>
          </a:xfrm>
          <a:prstGeom prst="rect">
            <a:avLst/>
          </a:prstGeom>
          <a:ln w="9525">
            <a:solidFill>
              <a:srgbClr val="E1E0D9"/>
            </a:solidFill>
          </a:ln>
        </p:spPr>
      </p:pic>
      <p:sp>
        <p:nvSpPr>
          <p:cNvPr id="14" name="TextBox 13"/>
          <p:cNvSpPr txBox="1"/>
          <p:nvPr/>
        </p:nvSpPr>
        <p:spPr>
          <a:xfrm>
            <a:off x="8458200" y="4663440"/>
            <a:ext cx="324612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4000" b="1" i="0">
                <a:solidFill>
                  <a:srgbClr val="0CA30C"/>
                </a:solidFill>
                <a:latin typeface="Segoe UI"/>
              </a:rPr>
              <a:t>31/31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58200" y="5285232"/>
            <a:ext cx="324612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0" i="0">
                <a:solidFill>
                  <a:srgbClr val="52514E"/>
                </a:solidFill>
                <a:latin typeface="Segoe UI"/>
              </a:rPr>
              <a:t>pytest checks passing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E2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3810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82296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EB6834"/>
                </a:solidFill>
                <a:latin typeface="Segoe UI"/>
              </a:rPr>
              <a:t>BRIDGE STEP — DONE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84632" y="384048"/>
            <a:ext cx="105156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Segoe UI"/>
              </a:rPr>
              <a:t>Simulated X-Ray Demo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365760"/>
            <a:ext cx="64008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B8C4D0"/>
                </a:solidFill>
                <a:latin typeface="Segoe UI"/>
              </a:rPr>
              <a:t>4/10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280160" y="1417320"/>
            <a:ext cx="9646920" cy="3977639"/>
          </a:xfrm>
          <a:prstGeom prst="roundRect">
            <a:avLst>
              <a:gd name="adj" fmla="val 4000"/>
            </a:avLst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07_dualpa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16626" y="1508760"/>
            <a:ext cx="7773987" cy="379476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1463040" y="1554480"/>
            <a:ext cx="4123944" cy="310896"/>
          </a:xfrm>
          <a:prstGeom prst="roundRect">
            <a:avLst>
              <a:gd name="adj" fmla="val 50000"/>
            </a:avLst>
          </a:prstGeom>
          <a:solidFill>
            <a:srgbClr val="6B72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100" b="1">
                <a:solidFill>
                  <a:srgbClr val="FFFFFF"/>
                </a:solidFill>
                <a:latin typeface="Segoe UI"/>
              </a:rPr>
              <a:t>SIMULATED CT (Radon + FBP)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675120" y="1554480"/>
            <a:ext cx="3099816" cy="310896"/>
          </a:xfrm>
          <a:prstGeom prst="roundRect">
            <a:avLst>
              <a:gd name="adj" fmla="val 50000"/>
            </a:avLst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100" b="1">
                <a:solidFill>
                  <a:srgbClr val="FFFFFF"/>
                </a:solidFill>
                <a:latin typeface="Segoe UI"/>
              </a:rPr>
              <a:t>GERBER GROUND TRUTH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06240" y="5577840"/>
            <a:ext cx="3291840" cy="457200"/>
          </a:xfrm>
          <a:prstGeom prst="roundRect">
            <a:avLst>
              <a:gd name="adj" fmla="val 50000"/>
            </a:avLst>
          </a:prstGeom>
          <a:solidFill>
            <a:srgbClr val="0CA3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500" b="1">
                <a:solidFill>
                  <a:srgbClr val="FFFFFF"/>
                </a:solidFill>
                <a:latin typeface="Segoe UI"/>
              </a:rPr>
              <a:t>✓  Perfectly Pre-Registered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E2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3810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82296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EB6834"/>
                </a:solidFill>
                <a:latin typeface="Segoe UI"/>
              </a:rPr>
              <a:t>MATERIAL PHYSICS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84632" y="384048"/>
            <a:ext cx="105156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Segoe UI"/>
              </a:rPr>
              <a:t>Dual-Energy Decomposition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365760"/>
            <a:ext cx="64008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B8C4D0"/>
                </a:solidFill>
                <a:latin typeface="Segoe UI"/>
              </a:rPr>
              <a:t>5/10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331720" y="1280160"/>
            <a:ext cx="7498079" cy="443484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08_am_plot_zeff_rho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3160" y="1407523"/>
            <a:ext cx="7315200" cy="418011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22960" y="5806440"/>
            <a:ext cx="105156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0" i="1">
                <a:solidFill>
                  <a:srgbClr val="52514E"/>
                </a:solidFill>
                <a:latin typeface="Segoe UI"/>
              </a:rPr>
              <a:t>real decomposition output — ρ_e recovery is clean, Z_eff recovery is noisy (expected, ratio-based method)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E2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3810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82296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EB6834"/>
                </a:solidFill>
                <a:latin typeface="Segoe UI"/>
              </a:rPr>
              <a:t>MATERIAL PHYSICS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84632" y="384048"/>
            <a:ext cx="105156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Segoe UI"/>
              </a:rPr>
              <a:t>Colorized Volumes + Legend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365760"/>
            <a:ext cx="64008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B8C4D0"/>
                </a:solidFill>
                <a:latin typeface="Segoe UI"/>
              </a:rPr>
              <a:t>6/10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325880"/>
            <a:ext cx="3383280" cy="2606040"/>
          </a:xfrm>
          <a:prstGeom prst="roundRect">
            <a:avLst>
              <a:gd name="adj" fmla="val 5000"/>
            </a:avLst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09a_rhoe_pa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892" y="1371600"/>
            <a:ext cx="2307336" cy="219456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640080" y="1417320"/>
            <a:ext cx="1636776" cy="310896"/>
          </a:xfrm>
          <a:prstGeom prst="roundRect">
            <a:avLst>
              <a:gd name="adj" fmla="val 50000"/>
            </a:avLst>
          </a:prstGeom>
          <a:solidFill>
            <a:srgbClr val="0CA3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000" b="1">
                <a:solidFill>
                  <a:srgbClr val="FFFFFF"/>
                </a:solidFill>
                <a:latin typeface="Segoe UI"/>
              </a:rPr>
              <a:t>ρ_e clean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3657600"/>
            <a:ext cx="338328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52514E"/>
                </a:solidFill>
                <a:latin typeface="Segoe UI"/>
              </a:rPr>
              <a:t>ρ_e (electron density)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069080" y="1325880"/>
            <a:ext cx="3383280" cy="2606040"/>
          </a:xfrm>
          <a:prstGeom prst="roundRect">
            <a:avLst>
              <a:gd name="adj" fmla="val 5000"/>
            </a:avLst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09b_zeff_pan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07052" y="1371600"/>
            <a:ext cx="2307336" cy="2194560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4206240" y="1417320"/>
            <a:ext cx="1929384" cy="310896"/>
          </a:xfrm>
          <a:prstGeom prst="roundRect">
            <a:avLst>
              <a:gd name="adj" fmla="val 50000"/>
            </a:avLst>
          </a:prstGeom>
          <a:solidFill>
            <a:srgbClr val="FAB2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000" b="1">
                <a:solidFill>
                  <a:srgbClr val="0B0B0B"/>
                </a:solidFill>
                <a:latin typeface="Segoe UI"/>
              </a:rPr>
              <a:t>Z_eff noisy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69080" y="3657600"/>
            <a:ext cx="338328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52514E"/>
                </a:solidFill>
                <a:latin typeface="Segoe UI"/>
              </a:rPr>
              <a:t>Z_eff (real recovered volume)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635240" y="1463040"/>
            <a:ext cx="292608" cy="292608"/>
          </a:xfrm>
          <a:prstGeom prst="roundRect">
            <a:avLst>
              <a:gd name="adj" fmla="val 25000"/>
            </a:avLst>
          </a:prstGeom>
          <a:solidFill>
            <a:srgbClr val="1A33CC"/>
          </a:solidFill>
          <a:ln w="12700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19288" y="1435608"/>
            <a:ext cx="16459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B0B0B"/>
                </a:solidFill>
                <a:latin typeface="Segoe UI"/>
              </a:rPr>
              <a:t>AIR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19288" y="1682496"/>
            <a:ext cx="164592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52514E"/>
                </a:solidFill>
                <a:latin typeface="Segoe UI"/>
              </a:rPr>
              <a:t>Z=7.2  ρ=0.00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692640" y="1463040"/>
            <a:ext cx="292608" cy="292608"/>
          </a:xfrm>
          <a:prstGeom prst="roundRect">
            <a:avLst>
              <a:gd name="adj" fmla="val 25000"/>
            </a:avLst>
          </a:prstGeom>
          <a:solidFill>
            <a:srgbClr val="B87333"/>
          </a:solidFill>
          <a:ln w="12700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076688" y="1435608"/>
            <a:ext cx="16459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B0B0B"/>
                </a:solidFill>
                <a:latin typeface="Segoe UI"/>
              </a:rPr>
              <a:t>COPPER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76688" y="1682496"/>
            <a:ext cx="164592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52514E"/>
                </a:solidFill>
                <a:latin typeface="Segoe UI"/>
              </a:rPr>
              <a:t>Z=29.0  ρ=8.96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635240" y="2176272"/>
            <a:ext cx="292608" cy="292608"/>
          </a:xfrm>
          <a:prstGeom prst="roundRect">
            <a:avLst>
              <a:gd name="adj" fmla="val 25000"/>
            </a:avLst>
          </a:prstGeom>
          <a:solidFill>
            <a:srgbClr val="505050"/>
          </a:solidFill>
          <a:ln w="12700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19288" y="2148840"/>
            <a:ext cx="16459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B0B0B"/>
                </a:solidFill>
                <a:latin typeface="Segoe UI"/>
              </a:rPr>
              <a:t>FR4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19288" y="2395728"/>
            <a:ext cx="164592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52514E"/>
                </a:solidFill>
                <a:latin typeface="Segoe UI"/>
              </a:rPr>
              <a:t>Z=6.5  ρ=1.85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692640" y="2176272"/>
            <a:ext cx="292608" cy="292608"/>
          </a:xfrm>
          <a:prstGeom prst="roundRect">
            <a:avLst>
              <a:gd name="adj" fmla="val 25000"/>
            </a:avLst>
          </a:prstGeom>
          <a:solidFill>
            <a:srgbClr val="D4AF37"/>
          </a:solidFill>
          <a:ln w="12700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76688" y="2148840"/>
            <a:ext cx="16459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B0B0B"/>
                </a:solidFill>
                <a:latin typeface="Segoe UI"/>
              </a:rPr>
              <a:t>GOLD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76688" y="2395728"/>
            <a:ext cx="164592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52514E"/>
                </a:solidFill>
                <a:latin typeface="Segoe UI"/>
              </a:rPr>
              <a:t>Z=79.0  ρ=19.30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635240" y="2889504"/>
            <a:ext cx="292608" cy="292608"/>
          </a:xfrm>
          <a:prstGeom prst="roundRect">
            <a:avLst>
              <a:gd name="adj" fmla="val 25000"/>
            </a:avLst>
          </a:prstGeom>
          <a:solidFill>
            <a:srgbClr val="C7C9CC"/>
          </a:solidFill>
          <a:ln w="12700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019288" y="2862072"/>
            <a:ext cx="16459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B0B0B"/>
                </a:solidFill>
                <a:latin typeface="Segoe UI"/>
              </a:rPr>
              <a:t>SILVER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19288" y="3108960"/>
            <a:ext cx="164592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52514E"/>
                </a:solidFill>
                <a:latin typeface="Segoe UI"/>
              </a:rPr>
              <a:t>Z=47.0  ρ=10.49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692640" y="2889504"/>
            <a:ext cx="292608" cy="292608"/>
          </a:xfrm>
          <a:prstGeom prst="roundRect">
            <a:avLst>
              <a:gd name="adj" fmla="val 25000"/>
            </a:avLst>
          </a:prstGeom>
          <a:solidFill>
            <a:srgbClr val="B5B500"/>
          </a:solidFill>
          <a:ln w="12700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076688" y="2862072"/>
            <a:ext cx="16459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B0B0B"/>
                </a:solidFill>
                <a:latin typeface="Segoe UI"/>
              </a:rPr>
              <a:t>SOLDER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076688" y="3108960"/>
            <a:ext cx="164592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52514E"/>
                </a:solidFill>
                <a:latin typeface="Segoe UI"/>
              </a:rPr>
              <a:t>Z=60.0  ρ=8.50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635240" y="3566160"/>
            <a:ext cx="406908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0" i="1">
                <a:solidFill>
                  <a:srgbClr val="52514E"/>
                </a:solidFill>
                <a:latin typeface="Segoe UI"/>
              </a:rPr>
              <a:t>real computed reference values (live app legend)</a:t>
            </a:r>
          </a:p>
        </p:txBody>
      </p:sp>
      <p:graphicFrame>
        <p:nvGraphicFramePr>
          <p:cNvPr id="34" name="Chart 33"/>
          <p:cNvGraphicFramePr>
            <a:graphicFrameLocks noGrp="1"/>
          </p:cNvGraphicFramePr>
          <p:nvPr/>
        </p:nvGraphicFramePr>
        <p:xfrm>
          <a:off x="502920" y="4160520"/>
          <a:ext cx="5760720" cy="233172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35" name="TextBox 34"/>
          <p:cNvSpPr txBox="1"/>
          <p:nvPr/>
        </p:nvSpPr>
        <p:spPr>
          <a:xfrm>
            <a:off x="502920" y="3977639"/>
            <a:ext cx="54864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52514E"/>
                </a:solidFill>
                <a:latin typeface="Segoe UI"/>
              </a:rPr>
              <a:t>Classification accuracy (real run)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83680" y="4480560"/>
            <a:ext cx="512064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52514E"/>
                </a:solidFill>
                <a:latin typeface="Segoe UI"/>
              </a:rPr>
              <a:t>Noisy Z_eff recovery is the main driver of the</a:t>
            </a:r>
            <a:br/>
            <a:r>
              <a:rPr sz="1500" b="0" i="0">
                <a:solidFill>
                  <a:srgbClr val="52514E"/>
                </a:solidFill>
                <a:latin typeface="Segoe UI"/>
              </a:rPr>
              <a:t>accuracy gap — an expected physics limitation,</a:t>
            </a:r>
            <a:br/>
            <a:r>
              <a:rPr sz="1500" b="0" i="0">
                <a:solidFill>
                  <a:srgbClr val="52514E"/>
                </a:solidFill>
                <a:latin typeface="Segoe UI"/>
              </a:rPr>
              <a:t>not a bug.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E2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3810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82296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EB6834"/>
                </a:solidFill>
                <a:latin typeface="Segoe UI"/>
              </a:rPr>
              <a:t>PHASE 2 — DONE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84632" y="384048"/>
            <a:ext cx="105156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Segoe UI"/>
              </a:rPr>
              <a:t>Registration Foundations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365760"/>
            <a:ext cx="64008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B8C4D0"/>
                </a:solidFill>
                <a:latin typeface="Segoe UI"/>
              </a:rPr>
              <a:t>7/10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600200"/>
            <a:ext cx="4206240" cy="1554480"/>
          </a:xfrm>
          <a:prstGeom prst="roundRect">
            <a:avLst>
              <a:gd name="adj" fmla="val 8000"/>
            </a:avLst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800" b="1">
                <a:solidFill>
                  <a:srgbClr val="FFFFFF"/>
                </a:solidFill>
                <a:latin typeface="Segoe UI"/>
              </a:rPr>
              <a:t>GERBER (moving)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23760" y="1600200"/>
            <a:ext cx="4206240" cy="1554480"/>
          </a:xfrm>
          <a:prstGeom prst="roundRect">
            <a:avLst>
              <a:gd name="adj" fmla="val 8000"/>
            </a:avLst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800" b="1">
                <a:solidFill>
                  <a:srgbClr val="FFFFFF"/>
                </a:solidFill>
                <a:latin typeface="Segoe UI"/>
              </a:rPr>
              <a:t>REAL CT (fixed)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188720" y="3291840"/>
            <a:ext cx="3108960" cy="411480"/>
          </a:xfrm>
          <a:prstGeom prst="roundRect">
            <a:avLst>
              <a:gd name="adj" fmla="val 50000"/>
            </a:avLst>
          </a:prstGeom>
          <a:solidFill>
            <a:srgbClr val="0CA3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300" b="1">
                <a:solidFill>
                  <a:srgbClr val="FFFFFF"/>
                </a:solidFill>
                <a:latin typeface="Segoe UI"/>
              </a:rPr>
              <a:t>✓ mm/voxel spacing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0" y="3291840"/>
            <a:ext cx="3108960" cy="411480"/>
          </a:xfrm>
          <a:prstGeom prst="roundRect">
            <a:avLst>
              <a:gd name="adj" fmla="val 50000"/>
            </a:avLst>
          </a:prstGeom>
          <a:solidFill>
            <a:srgbClr val="0CA3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300" b="1">
                <a:solidFill>
                  <a:srgbClr val="FFFFFF"/>
                </a:solidFill>
                <a:latin typeface="Segoe UI"/>
              </a:rPr>
              <a:t>✓ mm/voxel spacing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160520"/>
            <a:ext cx="1088136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0B0B0B"/>
                </a:solidFill>
                <a:latin typeface="Segoe UI"/>
              </a:rPr>
              <a:t>5-DOF Rigid + Scale Transform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295247" y="4663440"/>
            <a:ext cx="1737360" cy="640080"/>
          </a:xfrm>
          <a:prstGeom prst="roundRect">
            <a:avLst>
              <a:gd name="adj" fmla="val 50000"/>
            </a:avLst>
          </a:prstGeom>
          <a:solidFill>
            <a:srgbClr val="0E2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600" b="1">
                <a:solidFill>
                  <a:srgbClr val="FFFFFF"/>
                </a:solidFill>
                <a:latin typeface="Segoe UI"/>
              </a:rPr>
              <a:t>Tx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95247" y="5394960"/>
            <a:ext cx="173736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52514E"/>
                </a:solidFill>
                <a:latin typeface="Segoe UI"/>
              </a:rPr>
              <a:t>0.20 mm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61207" y="4663440"/>
            <a:ext cx="1737360" cy="640080"/>
          </a:xfrm>
          <a:prstGeom prst="roundRect">
            <a:avLst>
              <a:gd name="adj" fmla="val 50000"/>
            </a:avLst>
          </a:prstGeom>
          <a:solidFill>
            <a:srgbClr val="0E2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600" b="1">
                <a:solidFill>
                  <a:srgbClr val="FFFFFF"/>
                </a:solidFill>
                <a:latin typeface="Segoe UI"/>
              </a:rPr>
              <a:t>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61207" y="5394960"/>
            <a:ext cx="173736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52514E"/>
                </a:solidFill>
                <a:latin typeface="Segoe UI"/>
              </a:rPr>
              <a:t>-0.15 mm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227167" y="4663440"/>
            <a:ext cx="1737360" cy="640080"/>
          </a:xfrm>
          <a:prstGeom prst="roundRect">
            <a:avLst>
              <a:gd name="adj" fmla="val 50000"/>
            </a:avLst>
          </a:prstGeom>
          <a:solidFill>
            <a:srgbClr val="0E2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600" b="1">
                <a:solidFill>
                  <a:srgbClr val="FFFFFF"/>
                </a:solidFill>
                <a:latin typeface="Segoe UI"/>
              </a:rPr>
              <a:t>Tz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27167" y="5394960"/>
            <a:ext cx="173736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52514E"/>
                </a:solidFill>
                <a:latin typeface="Segoe UI"/>
              </a:rPr>
              <a:t>0.02 mm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193127" y="4663440"/>
            <a:ext cx="1737360" cy="640080"/>
          </a:xfrm>
          <a:prstGeom prst="roundRect">
            <a:avLst>
              <a:gd name="adj" fmla="val 50000"/>
            </a:avLst>
          </a:prstGeom>
          <a:solidFill>
            <a:srgbClr val="0E2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600" b="1">
                <a:solidFill>
                  <a:srgbClr val="FFFFFF"/>
                </a:solidFill>
                <a:latin typeface="Segoe UI"/>
              </a:rPr>
              <a:t>Rot Z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93127" y="5394960"/>
            <a:ext cx="173736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52514E"/>
                </a:solidFill>
                <a:latin typeface="Segoe UI"/>
              </a:rPr>
              <a:t>3.00°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159087" y="4663440"/>
            <a:ext cx="1737360" cy="640080"/>
          </a:xfrm>
          <a:prstGeom prst="roundRect">
            <a:avLst>
              <a:gd name="adj" fmla="val 50000"/>
            </a:avLst>
          </a:prstGeom>
          <a:solidFill>
            <a:srgbClr val="0E2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600" b="1">
                <a:solidFill>
                  <a:srgbClr val="FFFFFF"/>
                </a:solidFill>
                <a:latin typeface="Segoe UI"/>
              </a:rPr>
              <a:t>Scale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59087" y="5394960"/>
            <a:ext cx="173736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52514E"/>
                </a:solidFill>
                <a:latin typeface="Segoe UI"/>
              </a:rPr>
              <a:t>1.02x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5806440"/>
            <a:ext cx="1088136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0" i="1">
                <a:solidFill>
                  <a:srgbClr val="52514E"/>
                </a:solidFill>
                <a:latin typeface="Segoe UI"/>
              </a:rPr>
              <a:t>values shown: a real accepted transform from the synthetic-demo test fixture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E2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3810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82296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EB6834"/>
                </a:solidFill>
                <a:latin typeface="Segoe UI"/>
              </a:rPr>
              <a:t>PHASE 2 — DONE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84632" y="384048"/>
            <a:ext cx="105156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Segoe UI"/>
              </a:rPr>
              <a:t>Manual Registration Tool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365760"/>
            <a:ext cx="64008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B8C4D0"/>
                </a:solidFill>
                <a:latin typeface="Segoe UI"/>
              </a:rPr>
              <a:t>8/10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1371600"/>
            <a:ext cx="2743200" cy="914400"/>
          </a:xfrm>
          <a:prstGeom prst="roundRect">
            <a:avLst>
              <a:gd name="adj" fmla="val 12000"/>
            </a:avLst>
          </a:prstGeom>
          <a:solidFill>
            <a:srgbClr val="E349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500" b="1">
                <a:solidFill>
                  <a:srgbClr val="FFFFFF"/>
                </a:solidFill>
                <a:latin typeface="Segoe UI"/>
              </a:rPr>
              <a:t>MOVING (Gerber, red)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709160" y="1371600"/>
            <a:ext cx="3657600" cy="914400"/>
          </a:xfrm>
          <a:prstGeom prst="roundRect">
            <a:avLst>
              <a:gd name="adj" fmla="val 12000"/>
            </a:avLst>
          </a:prstGeom>
          <a:solidFill>
            <a:srgbClr val="FAB2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500" b="1">
                <a:solidFill>
                  <a:srgbClr val="0B0B0B"/>
                </a:solidFill>
                <a:latin typeface="Segoe UI"/>
              </a:rPr>
              <a:t>LIVE OVERLAY PREVIEW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549640" y="1371600"/>
            <a:ext cx="2743200" cy="914400"/>
          </a:xfrm>
          <a:prstGeom prst="roundRect">
            <a:avLst>
              <a:gd name="adj" fmla="val 12000"/>
            </a:avLst>
          </a:prstGeom>
          <a:solidFill>
            <a:srgbClr val="1BA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500" b="1">
                <a:solidFill>
                  <a:srgbClr val="FFFFFF"/>
                </a:solidFill>
                <a:latin typeface="Segoe UI"/>
              </a:rPr>
              <a:t>FIXED (Real CT, green)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3703320" y="1664208"/>
            <a:ext cx="960120" cy="329184"/>
          </a:xfrm>
          <a:prstGeom prst="rightArrow">
            <a:avLst>
              <a:gd name="adj1" fmla="val 55000"/>
              <a:gd name="adj2" fmla="val 55000"/>
            </a:avLst>
          </a:prstGeom>
          <a:solidFill>
            <a:srgbClr val="8987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ight Arrow 10"/>
          <p:cNvSpPr/>
          <p:nvPr/>
        </p:nvSpPr>
        <p:spPr>
          <a:xfrm>
            <a:off x="7589520" y="1664208"/>
            <a:ext cx="914400" cy="329184"/>
          </a:xfrm>
          <a:prstGeom prst="rightArrow">
            <a:avLst>
              <a:gd name="adj1" fmla="val 55000"/>
              <a:gd name="adj2" fmla="val 55000"/>
            </a:avLst>
          </a:prstGeom>
          <a:solidFill>
            <a:srgbClr val="8987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463040" y="2606040"/>
            <a:ext cx="9235440" cy="3246120"/>
          </a:xfrm>
          <a:prstGeom prst="roundRect">
            <a:avLst>
              <a:gd name="adj" fmla="val 3000"/>
            </a:avLst>
          </a:prstGeom>
          <a:solidFill>
            <a:srgbClr val="F3F3F1"/>
          </a:solidFill>
          <a:ln w="12700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03_contro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0200" y="2795321"/>
            <a:ext cx="8961120" cy="2867558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463040" y="5943600"/>
            <a:ext cx="92354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0" i="1">
                <a:solidFill>
                  <a:srgbClr val="52514E"/>
                </a:solidFill>
                <a:latin typeface="Segoe UI"/>
              </a:rPr>
              <a:t>real control panel — accepted transform matches the known-misalignment test fixture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E2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3810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82296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EB6834"/>
                </a:solidFill>
                <a:latin typeface="Segoe UI"/>
              </a:rPr>
              <a:t>PHASE 2 — DONE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84632" y="384048"/>
            <a:ext cx="105156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Segoe UI"/>
              </a:rPr>
              <a:t>Label Transfer: Gerber → Real 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365760"/>
            <a:ext cx="64008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B8C4D0"/>
                </a:solidFill>
                <a:latin typeface="Segoe UI"/>
              </a:rPr>
              <a:t>9/10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417320"/>
            <a:ext cx="105156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52514E"/>
                </a:solidFill>
                <a:latin typeface="Segoe UI"/>
              </a:rPr>
              <a:t>nearest-neighbor resample — exact labels, no blending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280160" y="1828800"/>
            <a:ext cx="9646920" cy="3749039"/>
          </a:xfrm>
          <a:prstGeom prst="roundRect">
            <a:avLst>
              <a:gd name="adj" fmla="val 4000"/>
            </a:avLst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04_labeled_dualpa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50782" y="1920240"/>
            <a:ext cx="7305675" cy="356616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1463040" y="1965960"/>
            <a:ext cx="2514600" cy="310896"/>
          </a:xfrm>
          <a:prstGeom prst="roundRect">
            <a:avLst>
              <a:gd name="adj" fmla="val 50000"/>
            </a:avLst>
          </a:prstGeom>
          <a:solidFill>
            <a:srgbClr val="0CA3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100" b="1">
                <a:solidFill>
                  <a:srgbClr val="FFFFFF"/>
                </a:solidFill>
                <a:latin typeface="Segoe UI"/>
              </a:rPr>
              <a:t>LABELED REAL CT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675120" y="1965960"/>
            <a:ext cx="2807208" cy="310896"/>
          </a:xfrm>
          <a:prstGeom prst="roundRect">
            <a:avLst>
              <a:gd name="adj" fmla="val 50000"/>
            </a:avLst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100" b="1">
                <a:solidFill>
                  <a:srgbClr val="FFFFFF"/>
                </a:solidFill>
                <a:latin typeface="Segoe UI"/>
              </a:rPr>
              <a:t>REGISTERED GERBER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114800" y="5760720"/>
            <a:ext cx="3931920" cy="457200"/>
          </a:xfrm>
          <a:prstGeom prst="roundRect">
            <a:avLst>
              <a:gd name="adj" fmla="val 50000"/>
            </a:avLst>
          </a:prstGeom>
          <a:solidFill>
            <a:srgbClr val="0CA3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300" b="1">
                <a:solidFill>
                  <a:srgbClr val="FFFFFF"/>
                </a:solidFill>
                <a:latin typeface="Segoe UI"/>
              </a:rPr>
              <a:t>copper trace on translucent FR4 — verified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223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005840"/>
            <a:ext cx="12191695" cy="3810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82296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EB6834"/>
                </a:solidFill>
                <a:latin typeface="Segoe UI"/>
              </a:rPr>
              <a:t>QUALITY &amp; 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4632" y="384048"/>
            <a:ext cx="105156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Segoe UI"/>
              </a:rPr>
              <a:t>Testing &amp; What's Next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365760"/>
            <a:ext cx="64008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B8C4D0"/>
                </a:solidFill>
                <a:latin typeface="Segoe UI"/>
              </a:rPr>
              <a:t>10/10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371600"/>
            <a:ext cx="6035040" cy="4937760"/>
          </a:xfrm>
          <a:prstGeom prst="roundRect">
            <a:avLst>
              <a:gd name="adj" fmla="val 4000"/>
            </a:avLst>
          </a:prstGeom>
          <a:solidFill>
            <a:srgbClr val="162E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554480"/>
            <a:ext cx="50292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Segoe UI"/>
              </a:rPr>
              <a:t>31/31 tests passing (pytest, just now)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685800" y="1965960"/>
          <a:ext cx="5577840" cy="40233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858000" y="1554480"/>
            <a:ext cx="484632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Segoe UI"/>
              </a:rPr>
              <a:t>Next steps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0" y="2103120"/>
            <a:ext cx="109728" cy="777240"/>
          </a:xfrm>
          <a:prstGeom prst="roundRect">
            <a:avLst>
              <a:gd name="adj" fmla="val 50000"/>
            </a:avLst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78040" y="2103120"/>
            <a:ext cx="448056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Segoe UI"/>
              </a:rPr>
              <a:t>Real matched Gerber + CT dataset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0" y="3154680"/>
            <a:ext cx="109728" cy="777240"/>
          </a:xfrm>
          <a:prstGeom prst="roundRect">
            <a:avLst>
              <a:gd name="adj" fmla="val 50000"/>
            </a:avLst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178040" y="3154680"/>
            <a:ext cx="448056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Segoe UI"/>
              </a:rPr>
              <a:t>Evaluate auto-registration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0" y="4206240"/>
            <a:ext cx="109728" cy="777240"/>
          </a:xfrm>
          <a:prstGeom prst="roundRect">
            <a:avLst>
              <a:gd name="adj" fmla="val 50000"/>
            </a:avLst>
          </a:prstGeom>
          <a:solidFill>
            <a:srgbClr val="1BA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178040" y="4206240"/>
            <a:ext cx="448056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Segoe UI"/>
              </a:rPr>
              <a:t>Improve Z_eff recovery accuracy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