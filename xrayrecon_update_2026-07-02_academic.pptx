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68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75B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1B-4CA6-B8E5-00A1663EF255}"/>
              </c:ext>
            </c:extLst>
          </c:dPt>
          <c:dPt>
            <c:idx val="1"/>
            <c:invertIfNegative val="1"/>
            <c:bubble3D val="0"/>
            <c:spPr>
              <a:solidFill>
                <a:srgbClr val="E6C8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1B-4CA6-B8E5-00A1663EF25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Ground Truth</c:v>
                </c:pt>
                <c:pt idx="1">
                  <c:v>Recovered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1B-4CA6-B8E5-00A1663EF2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A5A35-915D-487B-B986-DC4007F5310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7B53-4632-485A-B7A4-A94E4BA43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2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7B53-4632-485A-B7A4-A94E4BA43B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1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A Gerber Model Registered to Real CT Data Can Auto-Label Its Own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 dirty="0" err="1">
                <a:solidFill>
                  <a:srgbClr val="A0BBDD"/>
                </a:solidFill>
                <a:latin typeface="Arial"/>
              </a:rPr>
              <a:t>xrayrecon</a:t>
            </a:r>
            <a:r>
              <a:rPr sz="1600" b="0" i="0" dirty="0">
                <a:solidFill>
                  <a:srgbClr val="A0BBDD"/>
                </a:solidFill>
                <a:latin typeface="Arial"/>
              </a:rPr>
              <a:t> Project Update  ·  Sandia Project  ·  Internal Lab Meeting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03320"/>
            <a:ext cx="182880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Arial"/>
              </a:rPr>
              <a:t>Patrick Craig  ·  xrayrecon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0BBDD"/>
                </a:solidFill>
                <a:latin typeface="Arial"/>
              </a:rPr>
              <a:t>July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Comparing a PCB's known design to its real CT scan is currently manual and error-prone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•  Situation: </a:t>
            </a:r>
            <a:r>
              <a:rPr sz="2000" b="0">
                <a:solidFill>
                  <a:srgbClr val="2D2D2D"/>
                </a:solidFill>
                <a:latin typeface="Arial"/>
              </a:rPr>
              <a:t>xrayrecon already loads real X-ray CT volumes and can voxelize a Gerber PCB design with per-layer materials assigned.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•  Complication: </a:t>
            </a:r>
            <a:r>
              <a:rPr sz="2000" b="0">
                <a:solidFill>
                  <a:srgbClr val="2D2D2D"/>
                </a:solidFill>
                <a:latin typeface="Arial"/>
              </a:rPr>
              <a:t>the two were never viewable side by side, and there was no way to use the design's known geometry to identify materials in the noisy real scan.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•  Gap: </a:t>
            </a:r>
            <a:r>
              <a:rPr sz="2000" b="0">
                <a:solidFill>
                  <a:srgbClr val="2D2D2D"/>
                </a:solidFill>
                <a:latin typeface="Arial"/>
              </a:rPr>
              <a:t>no existing tool in this codebase registered a CAD-derived model to real CT data or transferred ground-truth labels onto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This update asks: can a Gerber model's known materials be registered and transferred onto real CT data?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80160" y="1463040"/>
            <a:ext cx="9601200" cy="173736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600200"/>
            <a:ext cx="90525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1F4E79"/>
                </a:solidFill>
                <a:latin typeface="Arial"/>
              </a:rPr>
              <a:t>Can a Gerber model, once registered to a real CT scan, transfer its known materials onto that scan automatically—without a pre-registered real dataset to validate the pipeline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•  Contribution: </a:t>
            </a:r>
            <a:r>
              <a:rPr sz="2000" b="0">
                <a:solidFill>
                  <a:srgbClr val="2D2D2D"/>
                </a:solidFill>
                <a:latin typeface="Arial"/>
              </a:rPr>
              <a:t>a dual-pane 3D viewer, a 5-DOF manual registration tool, and a nearest-neighbor label-transfer pipeline—validated end-to-end on a synthetic pair with a known ground-truth misalignment.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dirty="0">
                <a:solidFill>
                  <a:srgbClr val="1F4E79"/>
                </a:solidFill>
                <a:latin typeface="Arial"/>
              </a:rPr>
              <a:t>Phase 1 built independent dual-pane viewing; Phase 2 added registration and label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Dual-pane viewer: </a:t>
            </a:r>
            <a:r>
              <a:rPr sz="1900" b="0">
                <a:solidFill>
                  <a:srgbClr val="2D2D2D"/>
                </a:solidFill>
                <a:latin typeface="Arial"/>
              </a:rPr>
              <a:t>real CT (left) and Gerber model (right), independent camera/threshold/opacity.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Spacing metadata: </a:t>
            </a:r>
            <a:r>
              <a:rPr sz="1900" b="0">
                <a:solidFill>
                  <a:srgbClr val="2D2D2D"/>
                </a:solidFill>
                <a:latin typeface="Arial"/>
              </a:rPr>
              <a:t>mm/voxel captured for both volumes—neither carried it before.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Registration: </a:t>
            </a:r>
            <a:r>
              <a:rPr sz="1900" b="0">
                <a:solidFill>
                  <a:srgbClr val="2D2D2D"/>
                </a:solidFill>
                <a:latin typeface="Arial"/>
              </a:rPr>
              <a:t>5-DOF rigid + uniform scale transform (XYZ translate, Z-rotation, scale), scipy-only.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Label transfer: </a:t>
            </a:r>
            <a:r>
              <a:rPr sz="1900" b="0">
                <a:solidFill>
                  <a:srgbClr val="2D2D2D"/>
                </a:solidFill>
                <a:latin typeface="Arial"/>
              </a:rPr>
              <a:t>nearest-neighbor resample of Gerber material IDs onto the real-CT grid.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No real matched pair exists yet: </a:t>
            </a:r>
            <a:r>
              <a:rPr sz="1900" b="0">
                <a:solidFill>
                  <a:srgbClr val="2D2D2D"/>
                </a:solidFill>
                <a:latin typeface="Arial"/>
              </a:rPr>
              <a:t>the only real CT sample on hand is a battery scan, not a PCB.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Synthetic ground truth: </a:t>
            </a:r>
            <a:r>
              <a:rPr sz="1900" b="0">
                <a:solidFill>
                  <a:srgbClr val="2D2D2D"/>
                </a:solidFill>
                <a:latin typeface="Arial"/>
              </a:rPr>
              <a:t>a known misalignment applied to an already-verified simulated-CT bridge.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Simulated CT bridge: </a:t>
            </a:r>
            <a:r>
              <a:rPr sz="1900" b="0">
                <a:solidFill>
                  <a:srgbClr val="2D2D2D"/>
                </a:solidFill>
                <a:latin typeface="Arial"/>
              </a:rPr>
              <a:t>true Radon-transform + FBP reconstruction of the Gerber stackup—perfectly pre-registered by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The dual-pane viewer renders real CT data and the Gerber model correctly and independently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6675120" cy="4892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dualp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73596"/>
            <a:ext cx="6583680" cy="321372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465B1B1-B0F4-8F1A-D4CA-67887FC6FB5A}"/>
              </a:ext>
            </a:extLst>
          </p:cNvPr>
          <p:cNvGrpSpPr/>
          <p:nvPr/>
        </p:nvGrpSpPr>
        <p:grpSpPr>
          <a:xfrm>
            <a:off x="2606040" y="1387318"/>
            <a:ext cx="2377440" cy="502920"/>
            <a:chOff x="8741898" y="5737860"/>
            <a:chExt cx="2377440" cy="502920"/>
          </a:xfrm>
        </p:grpSpPr>
        <p:sp>
          <p:nvSpPr>
            <p:cNvPr id="6" name="Rounded Rectangle 5"/>
            <p:cNvSpPr/>
            <p:nvPr/>
          </p:nvSpPr>
          <p:spPr>
            <a:xfrm>
              <a:off x="8741898" y="5737860"/>
              <a:ext cx="2377440" cy="502920"/>
            </a:xfrm>
            <a:prstGeom prst="roundRect">
              <a:avLst>
                <a:gd name="adj" fmla="val 15000"/>
              </a:avLst>
            </a:prstGeom>
            <a:solidFill>
              <a:srgbClr val="FFF2CC"/>
            </a:solidFill>
            <a:ln w="12700">
              <a:solidFill>
                <a:srgbClr val="E6C8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741898" y="5737860"/>
              <a:ext cx="2377440" cy="502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1" i="0" dirty="0">
                  <a:solidFill>
                    <a:srgbClr val="7A5200"/>
                  </a:solidFill>
                  <a:latin typeface="Arial"/>
                </a:rPr>
                <a:t>Both panes independent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452360" y="12344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What to take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9164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dirty="0">
                <a:solidFill>
                  <a:srgbClr val="2D2D2D"/>
                </a:solidFill>
                <a:latin typeface="Arial"/>
              </a:rPr>
              <a:t>•  Live screenshot from the running app, not a mockup.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Left pane: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real CT volume (misaligned demo scan).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Right pane: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Gerber-derived model, same synthetic PCB.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dirty="0">
                <a:solidFill>
                  <a:srgbClr val="2D2D2D"/>
                </a:solidFill>
                <a:latin typeface="Arial"/>
              </a:rPr>
              <a:t>•  Each pane keeps its own camera, threshold, and opacity—verified independently controllable.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A simulated CT reconstruction validates the pipeline on a perfectly pre-registered pair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6675120" cy="4892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dual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3596"/>
            <a:ext cx="6583680" cy="321372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66AE42-84E8-87EB-2929-65E334BBEB35}"/>
              </a:ext>
            </a:extLst>
          </p:cNvPr>
          <p:cNvGrpSpPr/>
          <p:nvPr/>
        </p:nvGrpSpPr>
        <p:grpSpPr>
          <a:xfrm>
            <a:off x="2606040" y="1393141"/>
            <a:ext cx="2377440" cy="514720"/>
            <a:chOff x="8237806" y="5711190"/>
            <a:chExt cx="2377440" cy="514720"/>
          </a:xfrm>
        </p:grpSpPr>
        <p:sp>
          <p:nvSpPr>
            <p:cNvPr id="6" name="Rounded Rectangle 5"/>
            <p:cNvSpPr/>
            <p:nvPr/>
          </p:nvSpPr>
          <p:spPr>
            <a:xfrm>
              <a:off x="8237806" y="5711190"/>
              <a:ext cx="2377440" cy="502920"/>
            </a:xfrm>
            <a:prstGeom prst="roundRect">
              <a:avLst>
                <a:gd name="adj" fmla="val 15000"/>
              </a:avLst>
            </a:prstGeom>
            <a:solidFill>
              <a:srgbClr val="FFF2CC"/>
            </a:solidFill>
            <a:ln w="12700">
              <a:solidFill>
                <a:srgbClr val="E6C8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37806" y="5722990"/>
              <a:ext cx="2377440" cy="502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1" i="0" dirty="0">
                  <a:solidFill>
                    <a:srgbClr val="7A5200"/>
                  </a:solidFill>
                  <a:latin typeface="Arial"/>
                </a:rPr>
                <a:t>Pre-registered by construction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452360" y="12344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What to take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9164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Left: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simulated CT (Radon transform + filtered back-projection).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Right: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Gerber ground truth, same voxel grid.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dirty="0">
                <a:solidFill>
                  <a:srgbClr val="2D2D2D"/>
                </a:solidFill>
                <a:latin typeface="Arial"/>
              </a:rPr>
              <a:t>•  Because both derive from one grid, this pair is pre-registered by construction—it isolates whether the material-transfer logic itself works before alignment error is introduced.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Dual-energy decomposition recovers electron density cleanly but atomic number noisily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1234440"/>
            <a:ext cx="5577840" cy="4892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17984" y="143637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17984" y="14401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7A5200"/>
                </a:solidFill>
                <a:latin typeface="Arial"/>
              </a:rPr>
              <a:t>ρ_e</a:t>
            </a:r>
            <a:r>
              <a:rPr sz="1600" b="1" i="0" dirty="0">
                <a:solidFill>
                  <a:srgbClr val="7A5200"/>
                </a:solidFill>
                <a:latin typeface="Arial"/>
              </a:rPr>
              <a:t> clean / </a:t>
            </a:r>
            <a:r>
              <a:rPr sz="1600" b="1" i="0" dirty="0" err="1">
                <a:solidFill>
                  <a:srgbClr val="7A5200"/>
                </a:solidFill>
                <a:latin typeface="Arial"/>
              </a:rPr>
              <a:t>Z_eff</a:t>
            </a:r>
            <a:r>
              <a:rPr sz="1600" b="1" i="0" dirty="0">
                <a:solidFill>
                  <a:srgbClr val="7A5200"/>
                </a:solidFill>
                <a:latin typeface="Arial"/>
              </a:rPr>
              <a:t> noisy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2344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What to take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9164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ρ_e (density): </a:t>
            </a:r>
            <a:r>
              <a:rPr sz="1900" b="0">
                <a:solidFill>
                  <a:srgbClr val="2D2D2D"/>
                </a:solidFill>
                <a:latin typeface="Arial"/>
              </a:rPr>
              <a:t>recovered volume matches ground truth almost exactly.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Z_eff (atomic number): </a:t>
            </a:r>
            <a:r>
              <a:rPr sz="1900" b="0">
                <a:solidFill>
                  <a:srgbClr val="2D2D2D"/>
                </a:solidFill>
                <a:latin typeface="Arial"/>
              </a:rPr>
              <a:t>recovery is visibly noisy—an expected limitation of the ratio-based decomposition, not a bug.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2D2D2D"/>
                </a:solidFill>
                <a:latin typeface="Arial"/>
              </a:rPr>
              <a:t>•  This noise is the main driver of material-classification error reported next.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6CF519-3ADA-0ABF-2E31-9BC55728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1220"/>
            <a:ext cx="5522499" cy="3482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Nearest-neighbor resampling transfers Gerber ground-truth materials onto real CT without blending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6675120" cy="48920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labeled_dual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3596"/>
            <a:ext cx="6583680" cy="321372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5ACC706-2CE8-B1CC-1D19-F0471EA9D0C0}"/>
              </a:ext>
            </a:extLst>
          </p:cNvPr>
          <p:cNvGrpSpPr/>
          <p:nvPr/>
        </p:nvGrpSpPr>
        <p:grpSpPr>
          <a:xfrm>
            <a:off x="2606040" y="1417320"/>
            <a:ext cx="2377440" cy="502920"/>
            <a:chOff x="7982131" y="5875020"/>
            <a:chExt cx="2377440" cy="502920"/>
          </a:xfrm>
        </p:grpSpPr>
        <p:sp>
          <p:nvSpPr>
            <p:cNvPr id="6" name="Rounded Rectangle 5"/>
            <p:cNvSpPr/>
            <p:nvPr/>
          </p:nvSpPr>
          <p:spPr>
            <a:xfrm>
              <a:off x="7982131" y="5875020"/>
              <a:ext cx="2377440" cy="502920"/>
            </a:xfrm>
            <a:prstGeom prst="roundRect">
              <a:avLst>
                <a:gd name="adj" fmla="val 15000"/>
              </a:avLst>
            </a:prstGeom>
            <a:solidFill>
              <a:srgbClr val="FFF2CC"/>
            </a:solidFill>
            <a:ln w="12700">
              <a:solidFill>
                <a:srgbClr val="E6C8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82131" y="5875020"/>
              <a:ext cx="2377440" cy="502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1" i="0" dirty="0">
                  <a:solidFill>
                    <a:srgbClr val="7A5200"/>
                  </a:solidFill>
                  <a:latin typeface="Arial"/>
                </a:rPr>
                <a:t>Labels transferred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452360" y="12344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What to take 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91640"/>
            <a:ext cx="4297680" cy="3141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Left: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real CT volume, now labeled—copper trace correctly located on translucent FR4.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 dirty="0">
                <a:solidFill>
                  <a:srgbClr val="2D2D2D"/>
                </a:solidFill>
                <a:latin typeface="Arial"/>
              </a:rPr>
              <a:t>•  Right: </a:t>
            </a:r>
            <a:r>
              <a:rPr sz="1900" b="0" dirty="0">
                <a:solidFill>
                  <a:srgbClr val="2D2D2D"/>
                </a:solidFill>
                <a:latin typeface="Arial"/>
              </a:rPr>
              <a:t>registered Gerber volume it was derived from.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dirty="0">
                <a:solidFill>
                  <a:srgbClr val="2D2D2D"/>
                </a:solidFill>
                <a:latin typeface="Arial"/>
              </a:rPr>
              <a:t>•  Nearest-neighbor </a:t>
            </a:r>
            <a:r>
              <a:rPr lang="en-US" sz="1900" dirty="0" err="1">
                <a:solidFill>
                  <a:srgbClr val="2D2D2D"/>
                </a:solidFill>
                <a:latin typeface="Arial"/>
              </a:rPr>
              <a:t>cros</a:t>
            </a:r>
            <a:r>
              <a:rPr sz="1900" dirty="0" err="1">
                <a:solidFill>
                  <a:srgbClr val="2D2D2D"/>
                </a:solidFill>
                <a:latin typeface="Arial"/>
              </a:rPr>
              <a:t>resampling</a:t>
            </a:r>
            <a:r>
              <a:rPr sz="1900" dirty="0">
                <a:solidFill>
                  <a:srgbClr val="2D2D2D"/>
                </a:solidFill>
                <a:latin typeface="Arial"/>
              </a:rPr>
              <a:t> guarantees only real material IDs appear in the output—no interpolated "in-between" materials.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4E79"/>
                </a:solidFill>
                <a:latin typeface="Arial"/>
              </a:rPr>
              <a:t>Z_eff noise limits classification accuracy, and no real matched dataset exists yet to validate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2D2D2D"/>
                </a:solidFill>
                <a:latin typeface="Arial"/>
              </a:rPr>
              <a:t>•  Ground-truth classification: 100% correct (exact input, sanity check).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2D2D2D"/>
                </a:solidFill>
                <a:latin typeface="Arial"/>
              </a:rPr>
              <a:t>•  Recovered/noisy classification: 56% voxel agreement against ground truth.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Cause: </a:t>
            </a:r>
            <a:r>
              <a:rPr sz="1900" b="0">
                <a:solidFill>
                  <a:srgbClr val="2D2D2D"/>
                </a:solidFill>
                <a:latin typeface="Arial"/>
              </a:rPr>
              <a:t>Z_eff's ratio-based recovery is inherently noisier than ρ_e, especially for low-Z materials like FR4.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37160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5B6"/>
                </a:solidFill>
                <a:latin typeface="Arial"/>
              </a:rPr>
              <a:t>Main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External validity: </a:t>
            </a:r>
            <a:r>
              <a:rPr sz="1900" b="0">
                <a:solidFill>
                  <a:srgbClr val="2D2D2D"/>
                </a:solidFill>
                <a:latin typeface="Arial"/>
              </a:rPr>
              <a:t>the only real CT sample in the repo is a battery scan, not a PCB—end-to-end registration is validated only on synthetic data so far.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2D2D2D"/>
                </a:solidFill>
                <a:latin typeface="Arial"/>
              </a:rPr>
              <a:t>•  Next validation step: </a:t>
            </a:r>
            <a:r>
              <a:rPr sz="1900" b="0">
                <a:solidFill>
                  <a:srgbClr val="2D2D2D"/>
                </a:solidFill>
                <a:latin typeface="Arial"/>
              </a:rPr>
              <a:t>acquire or locate a real CT scan with a matching known Gerber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77777"/>
                </a:solidFill>
                <a:latin typeface="Arial"/>
              </a:rPr>
              <a:t>Classification accuracy computed live from the AM decomposition run behind slide 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A0BBDD"/>
                </a:solidFill>
                <a:latin typeface="Arial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2100" b="1" dirty="0">
                <a:solidFill>
                  <a:srgbClr val="FFFFFF"/>
                </a:solidFill>
                <a:latin typeface="Arial"/>
              </a:rPr>
              <a:t>1. Dual-pane viewing and Gerber material assignment are done and verified: </a:t>
            </a:r>
            <a:r>
              <a:rPr sz="2100" b="0" dirty="0">
                <a:solidFill>
                  <a:srgbClr val="FFFFFF"/>
                </a:solidFill>
                <a:latin typeface="Arial"/>
              </a:rPr>
              <a:t>31/31 automated tests pass across registration math, material labeling, spacing, and app smoke tests.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2100" b="1" dirty="0">
                <a:solidFill>
                  <a:srgbClr val="FFFFFF"/>
                </a:solidFill>
                <a:latin typeface="Arial"/>
              </a:rPr>
              <a:t>2. Registration and label transfer work end-to-end on synthetic ground truth: </a:t>
            </a:r>
            <a:r>
              <a:rPr sz="2100" b="0" dirty="0">
                <a:solidFill>
                  <a:srgbClr val="FFFFFF"/>
                </a:solidFill>
                <a:latin typeface="Arial"/>
              </a:rPr>
              <a:t>the tool recovers a known 5-DOF misalignment and correctly transfers materials onto the aligned volume.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2100" b="1" dirty="0">
                <a:solidFill>
                  <a:srgbClr val="FFFFFF"/>
                </a:solidFill>
                <a:latin typeface="Arial"/>
              </a:rPr>
              <a:t>3. </a:t>
            </a:r>
            <a:r>
              <a:rPr sz="2100" b="1" dirty="0" err="1">
                <a:solidFill>
                  <a:srgbClr val="FFFFFF"/>
                </a:solidFill>
                <a:latin typeface="Arial"/>
              </a:rPr>
              <a:t>ρ_e</a:t>
            </a:r>
            <a:r>
              <a:rPr sz="2100" b="1" dirty="0">
                <a:solidFill>
                  <a:srgbClr val="FFFFFF"/>
                </a:solidFill>
                <a:latin typeface="Arial"/>
              </a:rPr>
              <a:t> (density) recovery is reliable; </a:t>
            </a:r>
            <a:r>
              <a:rPr sz="2100" b="1" dirty="0" err="1">
                <a:solidFill>
                  <a:srgbClr val="FFFFFF"/>
                </a:solidFill>
                <a:latin typeface="Arial"/>
              </a:rPr>
              <a:t>Z_eff</a:t>
            </a:r>
            <a:r>
              <a:rPr sz="2100" b="1" dirty="0">
                <a:solidFill>
                  <a:srgbClr val="FFFFFF"/>
                </a:solidFill>
                <a:latin typeface="Arial"/>
              </a:rPr>
              <a:t> (atomic number) recovery is noisy: </a:t>
            </a:r>
            <a:r>
              <a:rPr sz="2100" b="0" dirty="0">
                <a:solidFill>
                  <a:srgbClr val="FFFFFF"/>
                </a:solidFill>
                <a:latin typeface="Arial"/>
              </a:rPr>
              <a:t>an expected, physics-driven limitation—not a defect in this pipeline.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2100" b="1" dirty="0">
                <a:solidFill>
                  <a:srgbClr val="FFFFFF"/>
                </a:solidFill>
                <a:latin typeface="Arial"/>
              </a:rPr>
              <a:t>4. The remaining gap is data, not method: </a:t>
            </a:r>
            <a:r>
              <a:rPr sz="2100" b="0" dirty="0">
                <a:solidFill>
                  <a:srgbClr val="FFFFFF"/>
                </a:solidFill>
                <a:latin typeface="Arial"/>
              </a:rPr>
              <a:t>no real matched Gerber + CT pair exists yet to validate the full pipeline outside simulation.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906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Craig,Patrick J</cp:lastModifiedBy>
  <cp:revision>4</cp:revision>
  <dcterms:created xsi:type="dcterms:W3CDTF">2013-01-27T09:14:16Z</dcterms:created>
  <dcterms:modified xsi:type="dcterms:W3CDTF">2026-07-02T17:41:44Z</dcterms:modified>
  <cp:category/>
</cp:coreProperties>
</file>